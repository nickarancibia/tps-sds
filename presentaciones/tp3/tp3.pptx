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f-F4tt34GSQ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mcVQffvMUSg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JKzRjsYy9Q" TargetMode="Externa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FROUE_83rk" TargetMode="Externa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38" y="1088688"/>
            <a:ext cx="10669145" cy="1174708"/>
          </a:xfrm>
          <a:prstGeom prst="roundRect">
            <a:avLst>
              <a:gd name="adj" fmla="val 6227"/>
            </a:avLst>
          </a:prstGeom>
          <a:solidFill>
            <a:srgbClr val="3333B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6436" y="1129010"/>
            <a:ext cx="10564308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Billar-metegol: dinámica molecular regida por eventos</a:t>
            </a:r>
            <a:endParaRPr lang="es-AR" sz="30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s-AR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Sistemas - ITBA</a:t>
            </a:r>
            <a:endParaRPr lang="es-AR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2150495" y="2715000"/>
            <a:ext cx="7889629" cy="118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Arancibia Nicolás – Legajo 64481</a:t>
            </a:r>
            <a:endParaRPr lang="es-AR" sz="2300" dirty="0"/>
          </a:p>
          <a:p>
            <a:pPr algn="ctr" indent="0" marL="0">
              <a:buNone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Morantes Agustín – Legajo 61306</a:t>
            </a:r>
            <a:endParaRPr lang="es-AR" sz="2300" dirty="0"/>
          </a:p>
          <a:p>
            <a:pPr algn="ctr" indent="0" marL="0">
              <a:buNone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Agustín – Legajo 64507</a:t>
            </a:r>
            <a:endParaRPr lang="es-AR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1612871" y="4193466"/>
            <a:ext cx="8964877" cy="32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AR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 — Comisión S2 — Instituto Tecnológico de Buenos Aires</a:t>
            </a:r>
            <a:endParaRPr lang="es-AR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688119" y="4838614"/>
            <a:ext cx="6814382" cy="40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de septiembre de 2026</a:t>
            </a:r>
            <a:endParaRPr lang="es-AR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33</a:t>
            </a:r>
            <a:endParaRPr lang="es-A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5248" y="2822525"/>
            <a:ext cx="10040125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333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5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33</a:t>
            </a:r>
            <a:endParaRPr lang="es-AR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06436" y="2688119"/>
            <a:ext cx="6048268" cy="20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10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rectangular con un arco en cada extremo y obstáculos fijos.</a:t>
            </a:r>
            <a:endParaRPr lang="es-AR" sz="2300" dirty="0"/>
          </a:p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Partículas con masa que se mueven libremente y chocan elásticamente entre sí.</a:t>
            </a:r>
            <a:endParaRPr lang="es-AR" sz="2300" dirty="0"/>
          </a:p>
        </p:txBody>
      </p:sp>
      <p:pic>
        <p:nvPicPr>
          <p:cNvPr id="44" name="Image 0" descr="/private/tmp/claude-501/-Users-agustinronda-Facultad-2C2026-Simulaci-n-de-sistemas-repo-tps-sds-tp3-event-driven-md-scripts/9fe3d00f-4f3a-4dbf-a2bd-4abb03957837/scratchpad/crops/intro_me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159" y="2319847"/>
            <a:ext cx="4220347" cy="2465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partículas con masa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33</a:t>
            </a:r>
            <a:endParaRPr lang="es-AR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94604" y="1935446"/>
            <a:ext cx="5376238" cy="40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 de partículas:</a:t>
            </a:r>
            <a:endParaRPr lang="es-AR" sz="2300" dirty="0"/>
          </a:p>
        </p:txBody>
      </p:sp>
      <p:pic>
        <p:nvPicPr>
          <p:cNvPr id="44" name="Image 0" descr="/private/tmp/claude-501/-Users-agustinronda-Facultad-2C2026-Simulaci-n-de-sistemas-repo-tps-sds-tp3-event-driven-md-scripts/9fe3d00f-4f3a-4dbf-a2bd-4abb03957837/scratchpad/crops/eq_m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377" y="2580594"/>
            <a:ext cx="3037575" cy="483861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994604" y="3252624"/>
            <a:ext cx="5376238" cy="40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Choques elásticos:</a:t>
            </a:r>
            <a:endParaRPr lang="es-AR" sz="2300" dirty="0"/>
          </a:p>
        </p:txBody>
      </p:sp>
      <p:sp>
        <p:nvSpPr>
          <p:cNvPr id="46" name="Text 43"/>
          <p:cNvSpPr txBox="1"/>
          <p:nvPr/>
        </p:nvSpPr>
        <p:spPr>
          <a:xfrm>
            <a:off x="752673" y="3749926"/>
            <a:ext cx="4569802" cy="34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 </a:t>
            </a:r>
            <a:r>
              <a:rPr lang="es-AR" sz="21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s-AR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partícula </a:t>
            </a:r>
            <a:r>
              <a:rPr lang="es-AR" sz="21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s-AR" sz="2100" dirty="0"/>
          </a:p>
        </p:txBody>
      </p:sp>
      <p:sp>
        <p:nvSpPr>
          <p:cNvPr id="47" name="Text 44"/>
          <p:cNvSpPr txBox="1"/>
          <p:nvPr/>
        </p:nvSpPr>
        <p:spPr>
          <a:xfrm>
            <a:off x="5456882" y="3749926"/>
            <a:ext cx="3628961" cy="34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 – obstáculo fijo</a:t>
            </a:r>
            <a:endParaRPr lang="es-AR" sz="2100" dirty="0"/>
          </a:p>
        </p:txBody>
      </p:sp>
      <p:sp>
        <p:nvSpPr>
          <p:cNvPr id="48" name="Text 45"/>
          <p:cNvSpPr txBox="1"/>
          <p:nvPr/>
        </p:nvSpPr>
        <p:spPr>
          <a:xfrm>
            <a:off x="9300892" y="3749926"/>
            <a:ext cx="2688119" cy="34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 – pared</a:t>
            </a:r>
            <a:endParaRPr lang="es-AR" sz="2100" dirty="0"/>
          </a:p>
        </p:txBody>
      </p:sp>
      <p:pic>
        <p:nvPicPr>
          <p:cNvPr id="49" name="Image 1" descr="/private/tmp/claude-501/-Users-agustinronda-Facultad-2C2026-Simulaci-n-de-sistemas-repo-tps-sds-tp3-event-driven-md-scripts/9fe3d00f-4f3a-4dbf-a2bd-4abb03957837/scratchpad/crops/eq_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11" y="4112822"/>
            <a:ext cx="4462278" cy="1451584"/>
          </a:xfrm>
          <a:prstGeom prst="rect">
            <a:avLst/>
          </a:prstGeom>
        </p:spPr>
      </p:pic>
      <p:pic>
        <p:nvPicPr>
          <p:cNvPr id="50" name="Image 2" descr="/private/tmp/claude-501/-Users-agustinronda-Facultad-2C2026-Simulaci-n-de-sistemas-repo-tps-sds-tp3-event-driven-md-scripts/9fe3d00f-4f3a-4dbf-a2bd-4abb03957837/scratchpad/crops/eq_ob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674" y="4118198"/>
            <a:ext cx="2204258" cy="424723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5456882" y="4596684"/>
            <a:ext cx="3494555" cy="96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ê</a:t>
            </a:r>
            <a:r>
              <a:rPr lang="es-AR" sz="18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versor normal al choque, del centro del obstáculo al de la partícula.</a:t>
            </a:r>
            <a:endParaRPr lang="es-AR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9274011" y="4220347"/>
            <a:ext cx="2688119" cy="1505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Vertical:</a:t>
            </a:r>
            <a:endParaRPr lang="es-AR" sz="2100" dirty="0"/>
          </a:p>
          <a:p>
            <a:pPr indent="0" marL="0">
              <a:spcAft>
                <a:spcPts val="500"/>
              </a:spcAft>
              <a:buNone/>
            </a:pP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→ (−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s-AR" sz="2100" dirty="0"/>
          </a:p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Horizontal:</a:t>
            </a:r>
            <a:endParaRPr lang="es-AR" sz="2100" dirty="0"/>
          </a:p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→ (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1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s-AR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33</a:t>
            </a:r>
            <a:endParaRPr lang="es-A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5248" y="2822525"/>
            <a:ext cx="10040125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333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5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Motor: cola de eventos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33</a:t>
            </a:r>
            <a:endParaRPr lang="es-AR" sz="1050" dirty="0"/>
          </a:p>
        </p:txBody>
      </p:sp>
      <p:pic>
        <p:nvPicPr>
          <p:cNvPr id="43" name="Image 0" descr="/private/tmp/claude-501/-Users-agustinronda-Facultad-2C2026-Simulaci-n-de-sistemas-repo-tps-sds-tp3-event-driven-md-scripts/9fe3d00f-4f3a-4dbf-a2bd-4abb03957837/scratchpad/crops/mo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36" y="1666634"/>
            <a:ext cx="8440694" cy="4139703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623466" y="2688119"/>
            <a:ext cx="2365545" cy="228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s-AR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s-AR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s-AR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s-AR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partículas</a:t>
            </a:r>
            <a:endParaRPr lang="es-AR" sz="1800" dirty="0"/>
          </a:p>
          <a:p>
            <a:pPr indent="0" marL="0">
              <a:spcAft>
                <a:spcPts val="700"/>
              </a:spcAft>
              <a:buNone/>
            </a:pPr>
            <a:r>
              <a:rPr lang="es-AR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18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s-AR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número de choques de la partícula </a:t>
            </a:r>
            <a:r>
              <a:rPr lang="es-AR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s-AR" sz="1800" dirty="0"/>
          </a:p>
          <a:p>
            <a:pPr indent="0" marL="0">
              <a:buNone/>
            </a:pPr>
            <a:r>
              <a:rPr lang="es-AR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instante del evento</a:t>
            </a:r>
            <a:endParaRPr lang="es-AR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33</a:t>
            </a:r>
            <a:endParaRPr lang="es-A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5248" y="2822525"/>
            <a:ext cx="10040125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333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5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33</a:t>
            </a:r>
            <a:endParaRPr lang="es-AR" sz="1050" dirty="0"/>
          </a:p>
        </p:txBody>
      </p:sp>
      <p:pic>
        <p:nvPicPr>
          <p:cNvPr id="43" name="Image 0" descr="/private/tmp/claude-501/-Users-agustinronda-Facultad-2C2026-Simulaci-n-de-sistemas-repo-tps-sds-tp3-event-driven-md-scripts/9fe3d00f-4f3a-4dbf-a2bd-4abb03957837/scratchpad/crops/sim_me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24" y="2123614"/>
            <a:ext cx="5806337" cy="327950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6881585" y="1478465"/>
            <a:ext cx="5107426" cy="470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Fijos</a:t>
            </a:r>
            <a:endParaRPr lang="es-AR" sz="2300" dirty="0"/>
          </a:p>
          <a:p>
            <a:pPr marL="279400" indent="-279400">
              <a:spcAft>
                <a:spcPts val="2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1.20 m,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0.68 m,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0.20 m</a:t>
            </a:r>
            <a:endParaRPr lang="es-AR" sz="2300" dirty="0"/>
          </a:p>
          <a:p>
            <a:pPr marL="279400" indent="-279400">
              <a:spcAft>
                <a:spcPts val="2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0.0175 m,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0.025 kg,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 m/s</a:t>
            </a:r>
            <a:endParaRPr lang="es-AR" sz="2300" dirty="0"/>
          </a:p>
          <a:p>
            <a:pPr marL="279400" indent="-279400">
              <a:spcAft>
                <a:spcPts val="9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Posiciones iniciales al azar</a:t>
            </a:r>
            <a:endParaRPr lang="es-AR" sz="2300" dirty="0"/>
          </a:p>
          <a:p>
            <a:pPr indent="0" marL="0">
              <a:spcAft>
                <a:spcPts val="200"/>
              </a:spcAft>
              <a:buNone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s-AR" sz="2300" dirty="0"/>
          </a:p>
          <a:p>
            <a:pPr marL="279400" indent="-279400">
              <a:spcAft>
                <a:spcPts val="2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vacía: 7 valores de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25 y 400</a:t>
            </a:r>
            <a:endParaRPr lang="es-AR" sz="2300" dirty="0"/>
          </a:p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obstáculos: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100, obstáculos 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s-AR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Observables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33</a:t>
            </a:r>
            <a:endParaRPr lang="es-AR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06436" y="1989208"/>
            <a:ext cx="6048268" cy="3763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9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cantidad de goles acumulados.</a:t>
            </a:r>
            <a:endParaRPr lang="es-AR" sz="2300" dirty="0"/>
          </a:p>
          <a:p>
            <a:pPr marL="279400" indent="-279400">
              <a:spcAft>
                <a:spcPts val="9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)/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AR" sz="2300" dirty="0"/>
          </a:p>
          <a:p>
            <a:pPr marL="279400" indent="-279400">
              <a:spcAft>
                <a:spcPts val="9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al 90 %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mín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s-AR" sz="2300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≥ 0.9}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AR" sz="2300" dirty="0"/>
          </a:p>
          <a:p>
            <a:pPr marL="279400" indent="-279400">
              <a:spcAft>
                <a:spcPts val="9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promedio de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20 realizaciones.</a:t>
            </a:r>
            <a:endParaRPr lang="es-AR" sz="2300" dirty="0"/>
          </a:p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ejecución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promedio sobre 20 realizaciones de 30 s simulados.</a:t>
            </a:r>
            <a:endParaRPr lang="es-AR" sz="2300" dirty="0"/>
          </a:p>
        </p:txBody>
      </p:sp>
      <p:pic>
        <p:nvPicPr>
          <p:cNvPr id="44" name="Image 0" descr="/private/tmp/claude-501/-Users-agustinronda-Facultad-2C2026-Simulaci-n-de-sistemas-repo-tps-sds-tp3-event-driven-md-scripts/9fe3d00f-4f3a-4dbf-a2bd-4abb03957837/scratchpad/crops/obs_g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9308" y="2096733"/>
            <a:ext cx="3252624" cy="338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Observables: difusión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s-AR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06436" y="2204258"/>
            <a:ext cx="5913862" cy="40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Desplazamiento cuadrático medio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s-AR" sz="2300" dirty="0"/>
          </a:p>
        </p:txBody>
      </p:sp>
      <p:pic>
        <p:nvPicPr>
          <p:cNvPr id="44" name="Image 0" descr="/private/tmp/claude-501/-Users-agustinronda-Facultad-2C2026-Simulaci-n-de-sistemas-repo-tps-sds-tp3-event-driven-md-scripts/9fe3d00f-4f3a-4dbf-a2bd-4abb03957837/scratchpad/crops/eq_d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396" y="2822525"/>
            <a:ext cx="3817129" cy="967723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806436" y="3924654"/>
            <a:ext cx="5376238" cy="161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Difusión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DCM = 4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AR" sz="2300" dirty="0"/>
          </a:p>
          <a:p>
            <a:pPr lvl="1" marL="508000" indent="-254000">
              <a:spcAft>
                <a:spcPts val="2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marca a ojo el tramo </a:t>
            </a:r>
            <a:r>
              <a:rPr lang="es-AR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[0, </a:t>
            </a:r>
            <a:r>
              <a:rPr lang="es-AR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0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</a:t>
            </a:r>
            <a:r>
              <a:rPr lang="es-AR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r>
              <a:rPr lang="es-AR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ajuste lineal.</a:t>
            </a:r>
            <a:endParaRPr lang="es-AR" sz="2300" dirty="0"/>
          </a:p>
          <a:p>
            <a:pPr lvl="1" marL="508000" indent="-2540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sobre 20 realizaciones.</a:t>
            </a:r>
            <a:endParaRPr lang="es-AR" sz="2300" dirty="0"/>
          </a:p>
        </p:txBody>
      </p:sp>
      <p:pic>
        <p:nvPicPr>
          <p:cNvPr id="46" name="Image 1" descr="/private/tmp/claude-501/-Users-agustinronda-Facultad-2C2026-Simulaci-n-de-sistemas-repo-tps-sds-tp3-event-driven-md-scripts/9fe3d00f-4f3a-4dbf-a2bd-4abb03957837/scratchpad/crops/dcm_es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060" y="2150495"/>
            <a:ext cx="4731090" cy="29569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Configuraciones: disco central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pres_configs_singl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49" y="2258020"/>
            <a:ext cx="8333169" cy="2741881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569704" y="2258020"/>
            <a:ext cx="2473070" cy="274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radio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s-AR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Configuraciones: bloque central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pres_configs_multi_b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49" y="2258020"/>
            <a:ext cx="8333169" cy="2741881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569704" y="2258020"/>
            <a:ext cx="2473070" cy="274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Discos de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0.02 m</a:t>
            </a:r>
            <a:endParaRPr lang="es-AR" sz="2100" dirty="0"/>
          </a:p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cantidad de columnas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s-AR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Configuraciones: bloque con filas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pres_configs_multi_barrier_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49" y="2258020"/>
            <a:ext cx="8333169" cy="2741881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569704" y="2258020"/>
            <a:ext cx="2473070" cy="274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Discos de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0.02 m</a:t>
            </a:r>
            <a:endParaRPr lang="es-AR" sz="2100" dirty="0"/>
          </a:p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columnas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filas por lado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s-AR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s-A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5248" y="2822525"/>
            <a:ext cx="10040125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333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5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vacía: animación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presentaciones/tp3/figuras/snapshot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644" y="1478465"/>
            <a:ext cx="6612773" cy="416658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2795644" y="5833218"/>
            <a:ext cx="6612773" cy="37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2168" u="sng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youtu.be/f-F4tt34GSQ</a:t>
            </a:r>
            <a:endParaRPr lang="es-AR" sz="216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ejecución vs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time_vs_n_lin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central: animación con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0.33 m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presentaciones/tp3/figuras/snapshot_d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644" y="1478465"/>
            <a:ext cx="6612773" cy="416658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2795644" y="5833218"/>
            <a:ext cx="6612773" cy="37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2168" u="sng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youtu.be/mcVQffvMUSg</a:t>
            </a:r>
            <a:endParaRPr lang="es-AR" sz="216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central: fracción de goles vs tiempo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fg_empty_d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central: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305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radio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t90_singl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central: animación con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16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presentaciones/tp3/figuras/snapshot_mb_k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644" y="1478465"/>
            <a:ext cx="6612773" cy="416658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2795644" y="5833218"/>
            <a:ext cx="6612773" cy="37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2168" u="sng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youtu.be/eJKzRjsYy9Q</a:t>
            </a:r>
            <a:endParaRPr lang="es-AR" sz="216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central: fracción de goles vs tiempo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fg_multi_b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central: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305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t90_multi_b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con filas: animación con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17,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presentaciones/tp3/figuras/snapshot_eleg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644" y="1478465"/>
            <a:ext cx="6612773" cy="416658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2795644" y="5833218"/>
            <a:ext cx="6612773" cy="37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2168" u="sng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youtu.be/EFROUE_83rk</a:t>
            </a:r>
            <a:endParaRPr lang="es-AR" sz="216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con filas: fracción de goles vs tiempo para 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17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fg_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con filas: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305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filas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t90_multi_barrier_rows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configuración de cada familia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t90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elegida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pres_config_eleg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49" y="1344060"/>
            <a:ext cx="7688021" cy="5045599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8951436" y="2822525"/>
            <a:ext cx="2956931" cy="20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17,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</a:t>
            </a:r>
            <a:endParaRPr lang="es-AR" sz="2100" dirty="0"/>
          </a:p>
          <a:p>
            <a:pPr indent="0" marL="0">
              <a:spcAft>
                <a:spcPts val="900"/>
              </a:spcAft>
              <a:buNone/>
            </a:pP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245 discos de 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0.02 m</a:t>
            </a:r>
            <a:endParaRPr lang="es-AR" sz="2100" dirty="0"/>
          </a:p>
          <a:p>
            <a:pPr indent="0" marL="0">
              <a:buNone/>
            </a:pP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1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= 13.6 ± 1.8 s</a:t>
            </a:r>
            <a:endParaRPr lang="es-AR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Difusión: DCM vs tiempo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dcm_v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673" y="1263416"/>
            <a:ext cx="10671833" cy="52041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305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D_vs_t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central: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30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305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3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s-AR" sz="1050" dirty="0"/>
          </a:p>
        </p:txBody>
      </p:sp>
      <p:pic>
        <p:nvPicPr>
          <p:cNvPr id="43" name="Image 0" descr="/Users/agustinronda/Facultad/2C2026/Simulación de sistemas/repo/tps-sds/tp3-event-driven-md/analysis/figures/D_vs_t90_multi_b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0" y="1424703"/>
            <a:ext cx="7257921" cy="47848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s-A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5248" y="2822525"/>
            <a:ext cx="10040125" cy="107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333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5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5154"/>
          </a:xfrm>
          <a:prstGeom prst="rect">
            <a:avLst/>
          </a:prstGeom>
          <a:solidFill>
            <a:srgbClr val="1A1A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5371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s-AR" sz="1250" dirty="0"/>
          </a:p>
        </p:txBody>
      </p:sp>
      <p:sp>
        <p:nvSpPr>
          <p:cNvPr id="4" name="Shape 2"/>
          <p:cNvSpPr/>
          <p:nvPr/>
        </p:nvSpPr>
        <p:spPr>
          <a:xfrm>
            <a:off x="2553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0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8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4678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s-AR" sz="1250" dirty="0"/>
          </a:p>
        </p:txBody>
      </p:sp>
      <p:sp>
        <p:nvSpPr>
          <p:cNvPr id="8" name="Shape 6"/>
          <p:cNvSpPr/>
          <p:nvPr/>
        </p:nvSpPr>
        <p:spPr>
          <a:xfrm>
            <a:off x="26746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39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591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</a:t>
            </a:r>
            <a:endParaRPr lang="es-AR" sz="1250" dirty="0"/>
          </a:p>
        </p:txBody>
      </p:sp>
      <p:sp>
        <p:nvSpPr>
          <p:cNvPr id="11" name="Shape 9"/>
          <p:cNvSpPr/>
          <p:nvPr/>
        </p:nvSpPr>
        <p:spPr>
          <a:xfrm>
            <a:off x="533591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2635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935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607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2790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6950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622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8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s-AR" sz="1250" dirty="0"/>
          </a:p>
        </p:txBody>
      </p:sp>
      <p:sp>
        <p:nvSpPr>
          <p:cNvPr id="19" name="Shape 17"/>
          <p:cNvSpPr/>
          <p:nvPr/>
        </p:nvSpPr>
        <p:spPr>
          <a:xfrm>
            <a:off x="780898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570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423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14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585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578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29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601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273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45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616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2887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9606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6324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042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761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6479" y="239243"/>
            <a:ext cx="76611" cy="76611"/>
          </a:xfrm>
          <a:prstGeom prst="ellipse">
            <a:avLst/>
          </a:prstGeom>
          <a:ln w="6350">
            <a:solidFill>
              <a:srgbClr val="8C8CA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80966" y="32257"/>
            <a:ext cx="1881683" cy="20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AR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1250" dirty="0"/>
          </a:p>
        </p:txBody>
      </p:sp>
      <p:sp>
        <p:nvSpPr>
          <p:cNvPr id="37" name="Shape 35"/>
          <p:cNvSpPr/>
          <p:nvPr/>
        </p:nvSpPr>
        <p:spPr>
          <a:xfrm>
            <a:off x="10980966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87685" y="239243"/>
            <a:ext cx="76611" cy="76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94403" y="239243"/>
            <a:ext cx="76611" cy="76611"/>
          </a:xfrm>
          <a:prstGeom prst="ellipse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5154"/>
            <a:ext cx="12191695" cy="736545"/>
          </a:xfrm>
          <a:prstGeom prst="rect">
            <a:avLst/>
          </a:prstGeom>
          <a:solidFill>
            <a:srgbClr val="3333B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1931" y="395154"/>
            <a:ext cx="11693318" cy="73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AR" sz="3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AR" sz="3050" dirty="0"/>
          </a:p>
        </p:txBody>
      </p:sp>
      <p:sp>
        <p:nvSpPr>
          <p:cNvPr id="42" name="Text 40"/>
          <p:cNvSpPr txBox="1"/>
          <p:nvPr/>
        </p:nvSpPr>
        <p:spPr>
          <a:xfrm>
            <a:off x="10886882" y="6585892"/>
            <a:ext cx="1129010" cy="21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AR" sz="1050" dirty="0">
                <a:solidFill>
                  <a:srgbClr val="8C8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s-AR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94604" y="2553713"/>
            <a:ext cx="10618070" cy="20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6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configuraciones de obstáculos reducen 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respecto de la mesa vacía.</a:t>
            </a:r>
            <a:endParaRPr lang="es-AR" sz="2300" dirty="0"/>
          </a:p>
          <a:p>
            <a:pPr marL="279400" indent="-279400">
              <a:spcAft>
                <a:spcPts val="600"/>
              </a:spcAft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Comprimir el espacio mejora 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⟨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s-AR" sz="2300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s-AR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⟩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demasiada compresión lo vuelve a aumentar.</a:t>
            </a:r>
            <a:endParaRPr lang="es-AR" sz="2300" dirty="0"/>
          </a:p>
          <a:p>
            <a:pPr marL="279400" indent="-279400">
              <a:buClr>
                <a:srgbClr val="3333B3"/>
              </a:buClr>
              <a:buSzPct val="75000"/>
              <a:buFont typeface="Arial"/>
              <a:buChar char="●"/>
            </a:pP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mayor espacio, mayor movimiento de las partículas: mayor DCM y mayor </a:t>
            </a:r>
            <a:r>
              <a:rPr lang="es-AR" sz="2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s-AR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AR" sz="2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5248" y="2553713"/>
            <a:ext cx="10040125" cy="102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AR" sz="5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gracias</a:t>
            </a:r>
            <a:endParaRPr lang="es-AR" sz="5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Billar-metegol: dinámica molecular regida por eventos</dc:title>
  <dc:subject>PptxGenJS Presentation</dc:subject>
  <dc:creator>Grupo 2</dc:creator>
  <cp:lastModifiedBy>Grupo 2</cp:lastModifiedBy>
  <cp:revision>1</cp:revision>
  <dcterms:created xsi:type="dcterms:W3CDTF">2026-09-27T23:44:49Z</dcterms:created>
  <dcterms:modified xsi:type="dcterms:W3CDTF">2026-09-27T23:44:49Z</dcterms:modified>
</cp:coreProperties>
</file>